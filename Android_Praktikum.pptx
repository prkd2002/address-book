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9E2F2D-21C2-4102-B127-64B094E9D8F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327E818-FE5C-4F2E-B18F-4F3BF511F0DA}">
      <dgm:prSet/>
      <dgm:spPr/>
      <dgm:t>
        <a:bodyPr/>
        <a:lstStyle/>
        <a:p>
          <a:pPr>
            <a:defRPr cap="all"/>
          </a:pPr>
          <a:r>
            <a:rPr lang="de-DE" b="1"/>
            <a:t>UI-Technologie Wechsel</a:t>
          </a:r>
          <a:r>
            <a:rPr lang="de-DE"/>
            <a:t> - Von Layout Editor zu Jetpack Compose</a:t>
          </a:r>
          <a:endParaRPr lang="en-US"/>
        </a:p>
      </dgm:t>
    </dgm:pt>
    <dgm:pt modelId="{5BA5FF71-EFB9-4E48-BCD7-8A1819AE6EDC}" type="parTrans" cxnId="{D1B5C887-E067-4548-9559-131138CB8F3C}">
      <dgm:prSet/>
      <dgm:spPr/>
      <dgm:t>
        <a:bodyPr/>
        <a:lstStyle/>
        <a:p>
          <a:endParaRPr lang="en-US"/>
        </a:p>
      </dgm:t>
    </dgm:pt>
    <dgm:pt modelId="{937DDC94-0A65-40F6-A7DE-9AB87EB06106}" type="sibTrans" cxnId="{D1B5C887-E067-4548-9559-131138CB8F3C}">
      <dgm:prSet/>
      <dgm:spPr/>
      <dgm:t>
        <a:bodyPr/>
        <a:lstStyle/>
        <a:p>
          <a:endParaRPr lang="en-US"/>
        </a:p>
      </dgm:t>
    </dgm:pt>
    <dgm:pt modelId="{E56BC14E-3D8C-4DFB-AF4A-BD9500A7ED9E}">
      <dgm:prSet/>
      <dgm:spPr/>
      <dgm:t>
        <a:bodyPr/>
        <a:lstStyle/>
        <a:p>
          <a:pPr>
            <a:defRPr cap="all"/>
          </a:pPr>
          <a:r>
            <a:rPr lang="de-DE" b="1"/>
            <a:t>Datenbankarchitektur</a:t>
          </a:r>
          <a:r>
            <a:rPr lang="de-DE"/>
            <a:t> - Von SQLite zu Room Database wegen Komplexität</a:t>
          </a:r>
          <a:endParaRPr lang="en-US"/>
        </a:p>
      </dgm:t>
    </dgm:pt>
    <dgm:pt modelId="{5309CC31-1BFA-42D8-BF48-62F1B0F18039}" type="parTrans" cxnId="{0CF8191F-158E-47D8-8A95-BC267F2B3931}">
      <dgm:prSet/>
      <dgm:spPr/>
      <dgm:t>
        <a:bodyPr/>
        <a:lstStyle/>
        <a:p>
          <a:endParaRPr lang="en-US"/>
        </a:p>
      </dgm:t>
    </dgm:pt>
    <dgm:pt modelId="{CA242D80-5BC0-448A-945F-39EEB05E7E70}" type="sibTrans" cxnId="{0CF8191F-158E-47D8-8A95-BC267F2B3931}">
      <dgm:prSet/>
      <dgm:spPr/>
      <dgm:t>
        <a:bodyPr/>
        <a:lstStyle/>
        <a:p>
          <a:endParaRPr lang="en-US"/>
        </a:p>
      </dgm:t>
    </dgm:pt>
    <dgm:pt modelId="{658002F1-3708-4E9C-8BF0-9EACB646E9C4}">
      <dgm:prSet/>
      <dgm:spPr/>
      <dgm:t>
        <a:bodyPr/>
        <a:lstStyle/>
        <a:p>
          <a:pPr>
            <a:defRPr cap="all"/>
          </a:pPr>
          <a:r>
            <a:rPr lang="de-DE" b="1"/>
            <a:t>MT940-Parsing</a:t>
          </a:r>
          <a:r>
            <a:rPr lang="de-DE"/>
            <a:t> - Komplexes Bankdatenformat</a:t>
          </a:r>
          <a:endParaRPr lang="en-US"/>
        </a:p>
      </dgm:t>
    </dgm:pt>
    <dgm:pt modelId="{FAB0C3CC-AA7E-4621-AF3F-D459D72983E1}" type="parTrans" cxnId="{24F30147-0BF4-4CB4-9C64-5D02A335F1BB}">
      <dgm:prSet/>
      <dgm:spPr/>
      <dgm:t>
        <a:bodyPr/>
        <a:lstStyle/>
        <a:p>
          <a:endParaRPr lang="en-US"/>
        </a:p>
      </dgm:t>
    </dgm:pt>
    <dgm:pt modelId="{77FD78BC-FF30-4DCA-A410-61E4DF1B8E5C}" type="sibTrans" cxnId="{24F30147-0BF4-4CB4-9C64-5D02A335F1BB}">
      <dgm:prSet/>
      <dgm:spPr/>
      <dgm:t>
        <a:bodyPr/>
        <a:lstStyle/>
        <a:p>
          <a:endParaRPr lang="en-US"/>
        </a:p>
      </dgm:t>
    </dgm:pt>
    <dgm:pt modelId="{63F7B175-91D5-443F-8315-9C84BDC62257}">
      <dgm:prSet/>
      <dgm:spPr/>
      <dgm:t>
        <a:bodyPr/>
        <a:lstStyle/>
        <a:p>
          <a:pPr>
            <a:defRPr cap="all"/>
          </a:pPr>
          <a:r>
            <a:rPr lang="de-DE" b="1"/>
            <a:t>Funktionale Komplexität</a:t>
          </a:r>
          <a:r>
            <a:rPr lang="de-DE"/>
            <a:t> - 14 Anforderungen mit 12+ Screens</a:t>
          </a:r>
          <a:endParaRPr lang="en-US"/>
        </a:p>
      </dgm:t>
    </dgm:pt>
    <dgm:pt modelId="{4983234F-49CB-4A0F-A1B1-F906341E23DD}" type="parTrans" cxnId="{5C1D3565-E0D1-4325-934E-FF20622D9901}">
      <dgm:prSet/>
      <dgm:spPr/>
      <dgm:t>
        <a:bodyPr/>
        <a:lstStyle/>
        <a:p>
          <a:endParaRPr lang="en-US"/>
        </a:p>
      </dgm:t>
    </dgm:pt>
    <dgm:pt modelId="{CAF0A2C8-92B1-4817-B236-9313694ACFDD}" type="sibTrans" cxnId="{5C1D3565-E0D1-4325-934E-FF20622D9901}">
      <dgm:prSet/>
      <dgm:spPr/>
      <dgm:t>
        <a:bodyPr/>
        <a:lstStyle/>
        <a:p>
          <a:endParaRPr lang="en-US"/>
        </a:p>
      </dgm:t>
    </dgm:pt>
    <dgm:pt modelId="{AE8265E3-BE73-4ED4-812C-7E306C9A8E02}">
      <dgm:prSet/>
      <dgm:spPr/>
      <dgm:t>
        <a:bodyPr/>
        <a:lstStyle/>
        <a:p>
          <a:pPr>
            <a:defRPr cap="all"/>
          </a:pPr>
          <a:r>
            <a:rPr lang="de-DE" b="1"/>
            <a:t>Datenintegrität</a:t>
          </a:r>
          <a:r>
            <a:rPr lang="de-DE"/>
            <a:t> - Konsistenz und Validierung</a:t>
          </a:r>
          <a:endParaRPr lang="en-US"/>
        </a:p>
      </dgm:t>
    </dgm:pt>
    <dgm:pt modelId="{A9B9A70A-32AB-4181-AEC5-E326FDDD73BE}" type="parTrans" cxnId="{E307291C-965E-49C5-A79B-91C1DFAB795E}">
      <dgm:prSet/>
      <dgm:spPr/>
      <dgm:t>
        <a:bodyPr/>
        <a:lstStyle/>
        <a:p>
          <a:endParaRPr lang="en-US"/>
        </a:p>
      </dgm:t>
    </dgm:pt>
    <dgm:pt modelId="{FCA50346-9201-4367-9235-825E5F69FE63}" type="sibTrans" cxnId="{E307291C-965E-49C5-A79B-91C1DFAB795E}">
      <dgm:prSet/>
      <dgm:spPr/>
      <dgm:t>
        <a:bodyPr/>
        <a:lstStyle/>
        <a:p>
          <a:endParaRPr lang="en-US"/>
        </a:p>
      </dgm:t>
    </dgm:pt>
    <dgm:pt modelId="{07B51154-C6BE-4D0A-A4FC-5B5679AFC24F}">
      <dgm:prSet/>
      <dgm:spPr/>
      <dgm:t>
        <a:bodyPr/>
        <a:lstStyle/>
        <a:p>
          <a:pPr>
            <a:defRPr cap="all"/>
          </a:pPr>
          <a:r>
            <a:rPr lang="de-DE" b="1"/>
            <a:t>Benutzerfreundlichkeit</a:t>
          </a:r>
          <a:r>
            <a:rPr lang="de-DE"/>
            <a:t> - Komplexe Workflows</a:t>
          </a:r>
          <a:endParaRPr lang="en-US"/>
        </a:p>
      </dgm:t>
    </dgm:pt>
    <dgm:pt modelId="{46185F82-8154-4B96-9D47-29CBD83CA087}" type="parTrans" cxnId="{895DF831-C0C2-4BAC-B6BA-4E395D67332A}">
      <dgm:prSet/>
      <dgm:spPr/>
      <dgm:t>
        <a:bodyPr/>
        <a:lstStyle/>
        <a:p>
          <a:endParaRPr lang="en-US"/>
        </a:p>
      </dgm:t>
    </dgm:pt>
    <dgm:pt modelId="{2FDE2852-19C2-498B-9E55-1FCEED9CFCC0}" type="sibTrans" cxnId="{895DF831-C0C2-4BAC-B6BA-4E395D67332A}">
      <dgm:prSet/>
      <dgm:spPr/>
      <dgm:t>
        <a:bodyPr/>
        <a:lstStyle/>
        <a:p>
          <a:endParaRPr lang="en-US"/>
        </a:p>
      </dgm:t>
    </dgm:pt>
    <dgm:pt modelId="{D76A83F9-E1A4-42B3-9AE4-AB7ECDBA909E}" type="pres">
      <dgm:prSet presAssocID="{DD9E2F2D-21C2-4102-B127-64B094E9D8F5}" presName="root" presStyleCnt="0">
        <dgm:presLayoutVars>
          <dgm:dir/>
          <dgm:resizeHandles val="exact"/>
        </dgm:presLayoutVars>
      </dgm:prSet>
      <dgm:spPr/>
    </dgm:pt>
    <dgm:pt modelId="{DAB0F945-FDEE-47C8-8465-10374C2B527F}" type="pres">
      <dgm:prSet presAssocID="{0327E818-FE5C-4F2E-B18F-4F3BF511F0DA}" presName="compNode" presStyleCnt="0"/>
      <dgm:spPr/>
    </dgm:pt>
    <dgm:pt modelId="{A3312F59-E907-40DC-A27D-13FBCF30508E}" type="pres">
      <dgm:prSet presAssocID="{0327E818-FE5C-4F2E-B18F-4F3BF511F0D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81BF414-289F-40BA-9529-83362390F0B9}" type="pres">
      <dgm:prSet presAssocID="{0327E818-FE5C-4F2E-B18F-4F3BF511F0D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9A03AB8-E860-4B43-B113-F72E24AD5D0C}" type="pres">
      <dgm:prSet presAssocID="{0327E818-FE5C-4F2E-B18F-4F3BF511F0DA}" presName="spaceRect" presStyleCnt="0"/>
      <dgm:spPr/>
    </dgm:pt>
    <dgm:pt modelId="{11E83996-DF47-419A-9898-B92F2FCE2E36}" type="pres">
      <dgm:prSet presAssocID="{0327E818-FE5C-4F2E-B18F-4F3BF511F0DA}" presName="textRect" presStyleLbl="revTx" presStyleIdx="0" presStyleCnt="6">
        <dgm:presLayoutVars>
          <dgm:chMax val="1"/>
          <dgm:chPref val="1"/>
        </dgm:presLayoutVars>
      </dgm:prSet>
      <dgm:spPr/>
    </dgm:pt>
    <dgm:pt modelId="{7039BE50-190A-46AC-977E-466793E39E07}" type="pres">
      <dgm:prSet presAssocID="{937DDC94-0A65-40F6-A7DE-9AB87EB06106}" presName="sibTrans" presStyleCnt="0"/>
      <dgm:spPr/>
    </dgm:pt>
    <dgm:pt modelId="{23C0407C-4224-41B2-A358-B40300E00C42}" type="pres">
      <dgm:prSet presAssocID="{E56BC14E-3D8C-4DFB-AF4A-BD9500A7ED9E}" presName="compNode" presStyleCnt="0"/>
      <dgm:spPr/>
    </dgm:pt>
    <dgm:pt modelId="{1812DF91-4959-44E6-BC5E-68BCBF4CF4A5}" type="pres">
      <dgm:prSet presAssocID="{E56BC14E-3D8C-4DFB-AF4A-BD9500A7ED9E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413877D-31D4-4874-9EFA-14C6CFC6460D}" type="pres">
      <dgm:prSet presAssocID="{E56BC14E-3D8C-4DFB-AF4A-BD9500A7ED9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F46793A5-1982-498E-8E93-62D2E4A5A0E7}" type="pres">
      <dgm:prSet presAssocID="{E56BC14E-3D8C-4DFB-AF4A-BD9500A7ED9E}" presName="spaceRect" presStyleCnt="0"/>
      <dgm:spPr/>
    </dgm:pt>
    <dgm:pt modelId="{81E5B8D2-CE20-48BE-89FA-4EED0FB33ADD}" type="pres">
      <dgm:prSet presAssocID="{E56BC14E-3D8C-4DFB-AF4A-BD9500A7ED9E}" presName="textRect" presStyleLbl="revTx" presStyleIdx="1" presStyleCnt="6">
        <dgm:presLayoutVars>
          <dgm:chMax val="1"/>
          <dgm:chPref val="1"/>
        </dgm:presLayoutVars>
      </dgm:prSet>
      <dgm:spPr/>
    </dgm:pt>
    <dgm:pt modelId="{D693067B-4C63-4E05-BB1B-4911E9621234}" type="pres">
      <dgm:prSet presAssocID="{CA242D80-5BC0-448A-945F-39EEB05E7E70}" presName="sibTrans" presStyleCnt="0"/>
      <dgm:spPr/>
    </dgm:pt>
    <dgm:pt modelId="{D5F846D7-A353-476D-BB4C-A1EFB2EE47C3}" type="pres">
      <dgm:prSet presAssocID="{658002F1-3708-4E9C-8BF0-9EACB646E9C4}" presName="compNode" presStyleCnt="0"/>
      <dgm:spPr/>
    </dgm:pt>
    <dgm:pt modelId="{EF21937F-A90E-41BE-84FB-F3F7727EDBBF}" type="pres">
      <dgm:prSet presAssocID="{658002F1-3708-4E9C-8BF0-9EACB646E9C4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0A8F397-1A8B-4FF3-9922-D36F54A70E8B}" type="pres">
      <dgm:prSet presAssocID="{658002F1-3708-4E9C-8BF0-9EACB646E9C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yrinth"/>
        </a:ext>
      </dgm:extLst>
    </dgm:pt>
    <dgm:pt modelId="{69C5C817-4BE5-453C-B010-93CEAB06F8BF}" type="pres">
      <dgm:prSet presAssocID="{658002F1-3708-4E9C-8BF0-9EACB646E9C4}" presName="spaceRect" presStyleCnt="0"/>
      <dgm:spPr/>
    </dgm:pt>
    <dgm:pt modelId="{4550D771-2A55-4544-9B9D-36E3338F8B5E}" type="pres">
      <dgm:prSet presAssocID="{658002F1-3708-4E9C-8BF0-9EACB646E9C4}" presName="textRect" presStyleLbl="revTx" presStyleIdx="2" presStyleCnt="6">
        <dgm:presLayoutVars>
          <dgm:chMax val="1"/>
          <dgm:chPref val="1"/>
        </dgm:presLayoutVars>
      </dgm:prSet>
      <dgm:spPr/>
    </dgm:pt>
    <dgm:pt modelId="{BAB1080A-0C70-4BAB-B2AE-8BC11AA47065}" type="pres">
      <dgm:prSet presAssocID="{77FD78BC-FF30-4DCA-A410-61E4DF1B8E5C}" presName="sibTrans" presStyleCnt="0"/>
      <dgm:spPr/>
    </dgm:pt>
    <dgm:pt modelId="{5287D6B3-7EA2-482A-92E7-E76D4D16FDDB}" type="pres">
      <dgm:prSet presAssocID="{63F7B175-91D5-443F-8315-9C84BDC62257}" presName="compNode" presStyleCnt="0"/>
      <dgm:spPr/>
    </dgm:pt>
    <dgm:pt modelId="{E11566A0-353D-4937-8820-3F6CEEA09E93}" type="pres">
      <dgm:prSet presAssocID="{63F7B175-91D5-443F-8315-9C84BDC62257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7EFFF73-357F-4CA9-8F6E-A444A1D152D1}" type="pres">
      <dgm:prSet presAssocID="{63F7B175-91D5-443F-8315-9C84BDC6225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95734771-27FC-48C0-AA2F-E848FFDEAE93}" type="pres">
      <dgm:prSet presAssocID="{63F7B175-91D5-443F-8315-9C84BDC62257}" presName="spaceRect" presStyleCnt="0"/>
      <dgm:spPr/>
    </dgm:pt>
    <dgm:pt modelId="{5D4EACF8-13ED-47FA-8A5E-301F163788AB}" type="pres">
      <dgm:prSet presAssocID="{63F7B175-91D5-443F-8315-9C84BDC62257}" presName="textRect" presStyleLbl="revTx" presStyleIdx="3" presStyleCnt="6">
        <dgm:presLayoutVars>
          <dgm:chMax val="1"/>
          <dgm:chPref val="1"/>
        </dgm:presLayoutVars>
      </dgm:prSet>
      <dgm:spPr/>
    </dgm:pt>
    <dgm:pt modelId="{2B6EDC81-93DE-481D-B203-B80A92FDA2B5}" type="pres">
      <dgm:prSet presAssocID="{CAF0A2C8-92B1-4817-B236-9313694ACFDD}" presName="sibTrans" presStyleCnt="0"/>
      <dgm:spPr/>
    </dgm:pt>
    <dgm:pt modelId="{E59BD43A-D90F-4F02-A227-0E7B441710CC}" type="pres">
      <dgm:prSet presAssocID="{AE8265E3-BE73-4ED4-812C-7E306C9A8E02}" presName="compNode" presStyleCnt="0"/>
      <dgm:spPr/>
    </dgm:pt>
    <dgm:pt modelId="{EE4E18DB-6B24-4E04-829D-01E78A1376C2}" type="pres">
      <dgm:prSet presAssocID="{AE8265E3-BE73-4ED4-812C-7E306C9A8E02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C461B88-DF91-4D31-89E3-9433104BC6E4}" type="pres">
      <dgm:prSet presAssocID="{AE8265E3-BE73-4ED4-812C-7E306C9A8E0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1E57045-A4B8-4BAA-BED9-48D97A9D2D99}" type="pres">
      <dgm:prSet presAssocID="{AE8265E3-BE73-4ED4-812C-7E306C9A8E02}" presName="spaceRect" presStyleCnt="0"/>
      <dgm:spPr/>
    </dgm:pt>
    <dgm:pt modelId="{F13BD0D5-1A57-4841-8F68-DF6D4C4474CA}" type="pres">
      <dgm:prSet presAssocID="{AE8265E3-BE73-4ED4-812C-7E306C9A8E02}" presName="textRect" presStyleLbl="revTx" presStyleIdx="4" presStyleCnt="6">
        <dgm:presLayoutVars>
          <dgm:chMax val="1"/>
          <dgm:chPref val="1"/>
        </dgm:presLayoutVars>
      </dgm:prSet>
      <dgm:spPr/>
    </dgm:pt>
    <dgm:pt modelId="{BE54C55D-3FB1-47C9-A9B3-E5C92FF4C5ED}" type="pres">
      <dgm:prSet presAssocID="{FCA50346-9201-4367-9235-825E5F69FE63}" presName="sibTrans" presStyleCnt="0"/>
      <dgm:spPr/>
    </dgm:pt>
    <dgm:pt modelId="{EE61C85E-6557-45F3-9A4D-420B29BC2A8C}" type="pres">
      <dgm:prSet presAssocID="{07B51154-C6BE-4D0A-A4FC-5B5679AFC24F}" presName="compNode" presStyleCnt="0"/>
      <dgm:spPr/>
    </dgm:pt>
    <dgm:pt modelId="{B56A78C0-BB88-424C-B036-40B29244C29B}" type="pres">
      <dgm:prSet presAssocID="{07B51154-C6BE-4D0A-A4FC-5B5679AFC24F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72C6843-8F8E-4F35-A483-9FE3A6DCB986}" type="pres">
      <dgm:prSet presAssocID="{07B51154-C6BE-4D0A-A4FC-5B5679AFC24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33862B88-9EE3-445C-B196-9D9A2D9BE149}" type="pres">
      <dgm:prSet presAssocID="{07B51154-C6BE-4D0A-A4FC-5B5679AFC24F}" presName="spaceRect" presStyleCnt="0"/>
      <dgm:spPr/>
    </dgm:pt>
    <dgm:pt modelId="{2B4D7159-10B2-4B60-ADB8-9EC8BFCE34B1}" type="pres">
      <dgm:prSet presAssocID="{07B51154-C6BE-4D0A-A4FC-5B5679AFC24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AD09001-73E8-4A3D-A3D1-D568DFA7B142}" type="presOf" srcId="{0327E818-FE5C-4F2E-B18F-4F3BF511F0DA}" destId="{11E83996-DF47-419A-9898-B92F2FCE2E36}" srcOrd="0" destOrd="0" presId="urn:microsoft.com/office/officeart/2018/5/layout/IconLeafLabelList"/>
    <dgm:cxn modelId="{E307291C-965E-49C5-A79B-91C1DFAB795E}" srcId="{DD9E2F2D-21C2-4102-B127-64B094E9D8F5}" destId="{AE8265E3-BE73-4ED4-812C-7E306C9A8E02}" srcOrd="4" destOrd="0" parTransId="{A9B9A70A-32AB-4181-AEC5-E326FDDD73BE}" sibTransId="{FCA50346-9201-4367-9235-825E5F69FE63}"/>
    <dgm:cxn modelId="{0CF8191F-158E-47D8-8A95-BC267F2B3931}" srcId="{DD9E2F2D-21C2-4102-B127-64B094E9D8F5}" destId="{E56BC14E-3D8C-4DFB-AF4A-BD9500A7ED9E}" srcOrd="1" destOrd="0" parTransId="{5309CC31-1BFA-42D8-BF48-62F1B0F18039}" sibTransId="{CA242D80-5BC0-448A-945F-39EEB05E7E70}"/>
    <dgm:cxn modelId="{895DF831-C0C2-4BAC-B6BA-4E395D67332A}" srcId="{DD9E2F2D-21C2-4102-B127-64B094E9D8F5}" destId="{07B51154-C6BE-4D0A-A4FC-5B5679AFC24F}" srcOrd="5" destOrd="0" parTransId="{46185F82-8154-4B96-9D47-29CBD83CA087}" sibTransId="{2FDE2852-19C2-498B-9E55-1FCEED9CFCC0}"/>
    <dgm:cxn modelId="{5D79ED33-65B3-4856-9F30-0C5962071A3B}" type="presOf" srcId="{E56BC14E-3D8C-4DFB-AF4A-BD9500A7ED9E}" destId="{81E5B8D2-CE20-48BE-89FA-4EED0FB33ADD}" srcOrd="0" destOrd="0" presId="urn:microsoft.com/office/officeart/2018/5/layout/IconLeafLabelList"/>
    <dgm:cxn modelId="{8E651D44-9774-4401-809E-06B29DA889CE}" type="presOf" srcId="{AE8265E3-BE73-4ED4-812C-7E306C9A8E02}" destId="{F13BD0D5-1A57-4841-8F68-DF6D4C4474CA}" srcOrd="0" destOrd="0" presId="urn:microsoft.com/office/officeart/2018/5/layout/IconLeafLabelList"/>
    <dgm:cxn modelId="{2CDC5964-E792-4847-86D5-0D4606FE9695}" type="presOf" srcId="{DD9E2F2D-21C2-4102-B127-64B094E9D8F5}" destId="{D76A83F9-E1A4-42B3-9AE4-AB7ECDBA909E}" srcOrd="0" destOrd="0" presId="urn:microsoft.com/office/officeart/2018/5/layout/IconLeafLabelList"/>
    <dgm:cxn modelId="{5C1D3565-E0D1-4325-934E-FF20622D9901}" srcId="{DD9E2F2D-21C2-4102-B127-64B094E9D8F5}" destId="{63F7B175-91D5-443F-8315-9C84BDC62257}" srcOrd="3" destOrd="0" parTransId="{4983234F-49CB-4A0F-A1B1-F906341E23DD}" sibTransId="{CAF0A2C8-92B1-4817-B236-9313694ACFDD}"/>
    <dgm:cxn modelId="{24F30147-0BF4-4CB4-9C64-5D02A335F1BB}" srcId="{DD9E2F2D-21C2-4102-B127-64B094E9D8F5}" destId="{658002F1-3708-4E9C-8BF0-9EACB646E9C4}" srcOrd="2" destOrd="0" parTransId="{FAB0C3CC-AA7E-4621-AF3F-D459D72983E1}" sibTransId="{77FD78BC-FF30-4DCA-A410-61E4DF1B8E5C}"/>
    <dgm:cxn modelId="{F534447A-FE38-4034-8977-7CBB980FCB37}" type="presOf" srcId="{658002F1-3708-4E9C-8BF0-9EACB646E9C4}" destId="{4550D771-2A55-4544-9B9D-36E3338F8B5E}" srcOrd="0" destOrd="0" presId="urn:microsoft.com/office/officeart/2018/5/layout/IconLeafLabelList"/>
    <dgm:cxn modelId="{D1B5C887-E067-4548-9559-131138CB8F3C}" srcId="{DD9E2F2D-21C2-4102-B127-64B094E9D8F5}" destId="{0327E818-FE5C-4F2E-B18F-4F3BF511F0DA}" srcOrd="0" destOrd="0" parTransId="{5BA5FF71-EFB9-4E48-BCD7-8A1819AE6EDC}" sibTransId="{937DDC94-0A65-40F6-A7DE-9AB87EB06106}"/>
    <dgm:cxn modelId="{214F92C0-926D-4067-9C10-D1FBF91E1272}" type="presOf" srcId="{07B51154-C6BE-4D0A-A4FC-5B5679AFC24F}" destId="{2B4D7159-10B2-4B60-ADB8-9EC8BFCE34B1}" srcOrd="0" destOrd="0" presId="urn:microsoft.com/office/officeart/2018/5/layout/IconLeafLabelList"/>
    <dgm:cxn modelId="{B01E66D8-BE3A-4DFF-AE06-66D85FF5E903}" type="presOf" srcId="{63F7B175-91D5-443F-8315-9C84BDC62257}" destId="{5D4EACF8-13ED-47FA-8A5E-301F163788AB}" srcOrd="0" destOrd="0" presId="urn:microsoft.com/office/officeart/2018/5/layout/IconLeafLabelList"/>
    <dgm:cxn modelId="{C6A7513E-368F-48BD-8D98-E1B226B56654}" type="presParOf" srcId="{D76A83F9-E1A4-42B3-9AE4-AB7ECDBA909E}" destId="{DAB0F945-FDEE-47C8-8465-10374C2B527F}" srcOrd="0" destOrd="0" presId="urn:microsoft.com/office/officeart/2018/5/layout/IconLeafLabelList"/>
    <dgm:cxn modelId="{4F3EAB34-5817-4016-8B48-70847652E868}" type="presParOf" srcId="{DAB0F945-FDEE-47C8-8465-10374C2B527F}" destId="{A3312F59-E907-40DC-A27D-13FBCF30508E}" srcOrd="0" destOrd="0" presId="urn:microsoft.com/office/officeart/2018/5/layout/IconLeafLabelList"/>
    <dgm:cxn modelId="{BC6E5E28-A7BA-4907-8786-5292240B4C7B}" type="presParOf" srcId="{DAB0F945-FDEE-47C8-8465-10374C2B527F}" destId="{081BF414-289F-40BA-9529-83362390F0B9}" srcOrd="1" destOrd="0" presId="urn:microsoft.com/office/officeart/2018/5/layout/IconLeafLabelList"/>
    <dgm:cxn modelId="{043F00F0-58F1-4FEB-93A5-3747BC9437C2}" type="presParOf" srcId="{DAB0F945-FDEE-47C8-8465-10374C2B527F}" destId="{59A03AB8-E860-4B43-B113-F72E24AD5D0C}" srcOrd="2" destOrd="0" presId="urn:microsoft.com/office/officeart/2018/5/layout/IconLeafLabelList"/>
    <dgm:cxn modelId="{D925F90B-04D4-40BC-8039-453DF5B28377}" type="presParOf" srcId="{DAB0F945-FDEE-47C8-8465-10374C2B527F}" destId="{11E83996-DF47-419A-9898-B92F2FCE2E36}" srcOrd="3" destOrd="0" presId="urn:microsoft.com/office/officeart/2018/5/layout/IconLeafLabelList"/>
    <dgm:cxn modelId="{B3865454-BAA7-4CDE-BCEB-0EA9DABC2A8F}" type="presParOf" srcId="{D76A83F9-E1A4-42B3-9AE4-AB7ECDBA909E}" destId="{7039BE50-190A-46AC-977E-466793E39E07}" srcOrd="1" destOrd="0" presId="urn:microsoft.com/office/officeart/2018/5/layout/IconLeafLabelList"/>
    <dgm:cxn modelId="{DDDB10C3-1F06-4A3B-83FC-BE2924DB496A}" type="presParOf" srcId="{D76A83F9-E1A4-42B3-9AE4-AB7ECDBA909E}" destId="{23C0407C-4224-41B2-A358-B40300E00C42}" srcOrd="2" destOrd="0" presId="urn:microsoft.com/office/officeart/2018/5/layout/IconLeafLabelList"/>
    <dgm:cxn modelId="{EFA910AB-BA2F-48D4-8690-E517479D37F1}" type="presParOf" srcId="{23C0407C-4224-41B2-A358-B40300E00C42}" destId="{1812DF91-4959-44E6-BC5E-68BCBF4CF4A5}" srcOrd="0" destOrd="0" presId="urn:microsoft.com/office/officeart/2018/5/layout/IconLeafLabelList"/>
    <dgm:cxn modelId="{68DD1F06-C647-40F0-9DF2-C9C6C2D95096}" type="presParOf" srcId="{23C0407C-4224-41B2-A358-B40300E00C42}" destId="{5413877D-31D4-4874-9EFA-14C6CFC6460D}" srcOrd="1" destOrd="0" presId="urn:microsoft.com/office/officeart/2018/5/layout/IconLeafLabelList"/>
    <dgm:cxn modelId="{4A081FE4-A019-438F-9C63-5273C2C7C675}" type="presParOf" srcId="{23C0407C-4224-41B2-A358-B40300E00C42}" destId="{F46793A5-1982-498E-8E93-62D2E4A5A0E7}" srcOrd="2" destOrd="0" presId="urn:microsoft.com/office/officeart/2018/5/layout/IconLeafLabelList"/>
    <dgm:cxn modelId="{FD386142-41EB-435A-93DF-49A515664BFF}" type="presParOf" srcId="{23C0407C-4224-41B2-A358-B40300E00C42}" destId="{81E5B8D2-CE20-48BE-89FA-4EED0FB33ADD}" srcOrd="3" destOrd="0" presId="urn:microsoft.com/office/officeart/2018/5/layout/IconLeafLabelList"/>
    <dgm:cxn modelId="{A2691E37-0095-4E99-9F48-85CA1BB60E77}" type="presParOf" srcId="{D76A83F9-E1A4-42B3-9AE4-AB7ECDBA909E}" destId="{D693067B-4C63-4E05-BB1B-4911E9621234}" srcOrd="3" destOrd="0" presId="urn:microsoft.com/office/officeart/2018/5/layout/IconLeafLabelList"/>
    <dgm:cxn modelId="{002F9F02-C39F-4783-8AF5-7FBEC0C0CE49}" type="presParOf" srcId="{D76A83F9-E1A4-42B3-9AE4-AB7ECDBA909E}" destId="{D5F846D7-A353-476D-BB4C-A1EFB2EE47C3}" srcOrd="4" destOrd="0" presId="urn:microsoft.com/office/officeart/2018/5/layout/IconLeafLabelList"/>
    <dgm:cxn modelId="{B073D9F3-7E2A-4BDF-AFF2-2CAA6BBC9080}" type="presParOf" srcId="{D5F846D7-A353-476D-BB4C-A1EFB2EE47C3}" destId="{EF21937F-A90E-41BE-84FB-F3F7727EDBBF}" srcOrd="0" destOrd="0" presId="urn:microsoft.com/office/officeart/2018/5/layout/IconLeafLabelList"/>
    <dgm:cxn modelId="{FF98F1AC-C61C-497C-A59E-A0546986E706}" type="presParOf" srcId="{D5F846D7-A353-476D-BB4C-A1EFB2EE47C3}" destId="{C0A8F397-1A8B-4FF3-9922-D36F54A70E8B}" srcOrd="1" destOrd="0" presId="urn:microsoft.com/office/officeart/2018/5/layout/IconLeafLabelList"/>
    <dgm:cxn modelId="{A1932758-7960-46A0-97E0-98387AB11B17}" type="presParOf" srcId="{D5F846D7-A353-476D-BB4C-A1EFB2EE47C3}" destId="{69C5C817-4BE5-453C-B010-93CEAB06F8BF}" srcOrd="2" destOrd="0" presId="urn:microsoft.com/office/officeart/2018/5/layout/IconLeafLabelList"/>
    <dgm:cxn modelId="{F6F5C83F-EC7F-4161-8B48-4DF1F0EB674A}" type="presParOf" srcId="{D5F846D7-A353-476D-BB4C-A1EFB2EE47C3}" destId="{4550D771-2A55-4544-9B9D-36E3338F8B5E}" srcOrd="3" destOrd="0" presId="urn:microsoft.com/office/officeart/2018/5/layout/IconLeafLabelList"/>
    <dgm:cxn modelId="{773C77FB-9996-47A7-88B9-1C91242EC996}" type="presParOf" srcId="{D76A83F9-E1A4-42B3-9AE4-AB7ECDBA909E}" destId="{BAB1080A-0C70-4BAB-B2AE-8BC11AA47065}" srcOrd="5" destOrd="0" presId="urn:microsoft.com/office/officeart/2018/5/layout/IconLeafLabelList"/>
    <dgm:cxn modelId="{1E2C441A-B816-4E58-9593-6291F1C4C70B}" type="presParOf" srcId="{D76A83F9-E1A4-42B3-9AE4-AB7ECDBA909E}" destId="{5287D6B3-7EA2-482A-92E7-E76D4D16FDDB}" srcOrd="6" destOrd="0" presId="urn:microsoft.com/office/officeart/2018/5/layout/IconLeafLabelList"/>
    <dgm:cxn modelId="{7B840DD0-0A3B-45EB-AE6B-923CD5CAD7E0}" type="presParOf" srcId="{5287D6B3-7EA2-482A-92E7-E76D4D16FDDB}" destId="{E11566A0-353D-4937-8820-3F6CEEA09E93}" srcOrd="0" destOrd="0" presId="urn:microsoft.com/office/officeart/2018/5/layout/IconLeafLabelList"/>
    <dgm:cxn modelId="{C48B8196-36CA-469B-BEF2-3C7BEC2FD635}" type="presParOf" srcId="{5287D6B3-7EA2-482A-92E7-E76D4D16FDDB}" destId="{17EFFF73-357F-4CA9-8F6E-A444A1D152D1}" srcOrd="1" destOrd="0" presId="urn:microsoft.com/office/officeart/2018/5/layout/IconLeafLabelList"/>
    <dgm:cxn modelId="{9D3EAB44-521D-4461-8B3C-C11AC80FA78A}" type="presParOf" srcId="{5287D6B3-7EA2-482A-92E7-E76D4D16FDDB}" destId="{95734771-27FC-48C0-AA2F-E848FFDEAE93}" srcOrd="2" destOrd="0" presId="urn:microsoft.com/office/officeart/2018/5/layout/IconLeafLabelList"/>
    <dgm:cxn modelId="{77E0C9A1-4EA8-4A8A-9B5D-919AC1964BC4}" type="presParOf" srcId="{5287D6B3-7EA2-482A-92E7-E76D4D16FDDB}" destId="{5D4EACF8-13ED-47FA-8A5E-301F163788AB}" srcOrd="3" destOrd="0" presId="urn:microsoft.com/office/officeart/2018/5/layout/IconLeafLabelList"/>
    <dgm:cxn modelId="{E1911867-4F78-4C5F-96D5-193F50A9520A}" type="presParOf" srcId="{D76A83F9-E1A4-42B3-9AE4-AB7ECDBA909E}" destId="{2B6EDC81-93DE-481D-B203-B80A92FDA2B5}" srcOrd="7" destOrd="0" presId="urn:microsoft.com/office/officeart/2018/5/layout/IconLeafLabelList"/>
    <dgm:cxn modelId="{CECFB581-88E6-4268-9E82-DDC599A09CB3}" type="presParOf" srcId="{D76A83F9-E1A4-42B3-9AE4-AB7ECDBA909E}" destId="{E59BD43A-D90F-4F02-A227-0E7B441710CC}" srcOrd="8" destOrd="0" presId="urn:microsoft.com/office/officeart/2018/5/layout/IconLeafLabelList"/>
    <dgm:cxn modelId="{96BF06EA-6C8A-4647-8AB3-BB51CC262C90}" type="presParOf" srcId="{E59BD43A-D90F-4F02-A227-0E7B441710CC}" destId="{EE4E18DB-6B24-4E04-829D-01E78A1376C2}" srcOrd="0" destOrd="0" presId="urn:microsoft.com/office/officeart/2018/5/layout/IconLeafLabelList"/>
    <dgm:cxn modelId="{248BD5C7-021E-40A7-837E-974AF9D06B5F}" type="presParOf" srcId="{E59BD43A-D90F-4F02-A227-0E7B441710CC}" destId="{EC461B88-DF91-4D31-89E3-9433104BC6E4}" srcOrd="1" destOrd="0" presId="urn:microsoft.com/office/officeart/2018/5/layout/IconLeafLabelList"/>
    <dgm:cxn modelId="{F7F07D1E-DC02-480B-9418-A2B581822D7B}" type="presParOf" srcId="{E59BD43A-D90F-4F02-A227-0E7B441710CC}" destId="{A1E57045-A4B8-4BAA-BED9-48D97A9D2D99}" srcOrd="2" destOrd="0" presId="urn:microsoft.com/office/officeart/2018/5/layout/IconLeafLabelList"/>
    <dgm:cxn modelId="{2AC2B210-24A5-4148-B7B5-B2C000BD1105}" type="presParOf" srcId="{E59BD43A-D90F-4F02-A227-0E7B441710CC}" destId="{F13BD0D5-1A57-4841-8F68-DF6D4C4474CA}" srcOrd="3" destOrd="0" presId="urn:microsoft.com/office/officeart/2018/5/layout/IconLeafLabelList"/>
    <dgm:cxn modelId="{A49B2271-7DF9-4418-99BC-20777D7316EE}" type="presParOf" srcId="{D76A83F9-E1A4-42B3-9AE4-AB7ECDBA909E}" destId="{BE54C55D-3FB1-47C9-A9B3-E5C92FF4C5ED}" srcOrd="9" destOrd="0" presId="urn:microsoft.com/office/officeart/2018/5/layout/IconLeafLabelList"/>
    <dgm:cxn modelId="{C2D4AD44-C375-47D2-85B8-488AF2949081}" type="presParOf" srcId="{D76A83F9-E1A4-42B3-9AE4-AB7ECDBA909E}" destId="{EE61C85E-6557-45F3-9A4D-420B29BC2A8C}" srcOrd="10" destOrd="0" presId="urn:microsoft.com/office/officeart/2018/5/layout/IconLeafLabelList"/>
    <dgm:cxn modelId="{93A5D9EB-7B83-4B36-A48F-B00C142FE4D8}" type="presParOf" srcId="{EE61C85E-6557-45F3-9A4D-420B29BC2A8C}" destId="{B56A78C0-BB88-424C-B036-40B29244C29B}" srcOrd="0" destOrd="0" presId="urn:microsoft.com/office/officeart/2018/5/layout/IconLeafLabelList"/>
    <dgm:cxn modelId="{4A1C96FA-3DFA-4A51-88CF-F84A78A0C45B}" type="presParOf" srcId="{EE61C85E-6557-45F3-9A4D-420B29BC2A8C}" destId="{972C6843-8F8E-4F35-A483-9FE3A6DCB986}" srcOrd="1" destOrd="0" presId="urn:microsoft.com/office/officeart/2018/5/layout/IconLeafLabelList"/>
    <dgm:cxn modelId="{A9063B3C-8C1E-4CE6-A1C8-6386464E15BE}" type="presParOf" srcId="{EE61C85E-6557-45F3-9A4D-420B29BC2A8C}" destId="{33862B88-9EE3-445C-B196-9D9A2D9BE149}" srcOrd="2" destOrd="0" presId="urn:microsoft.com/office/officeart/2018/5/layout/IconLeafLabelList"/>
    <dgm:cxn modelId="{0513E03E-21ED-4269-A27C-1CA144DCFF75}" type="presParOf" srcId="{EE61C85E-6557-45F3-9A4D-420B29BC2A8C}" destId="{2B4D7159-10B2-4B60-ADB8-9EC8BFCE34B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12F59-E907-40DC-A27D-13FBCF30508E}">
      <dsp:nvSpPr>
        <dsp:cNvPr id="0" name=""/>
        <dsp:cNvSpPr/>
      </dsp:nvSpPr>
      <dsp:spPr>
        <a:xfrm>
          <a:off x="311379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BF414-289F-40BA-9529-83362390F0B9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3996-DF47-419A-9898-B92F2FCE2E36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UI-Technologie Wechsel</a:t>
          </a:r>
          <a:r>
            <a:rPr lang="de-DE" sz="1100" kern="1200"/>
            <a:t> - Von Layout Editor zu Jetpack Compose</a:t>
          </a:r>
          <a:endParaRPr lang="en-US" sz="1100" kern="1200"/>
        </a:p>
      </dsp:txBody>
      <dsp:txXfrm>
        <a:off x="1512" y="2414215"/>
        <a:ext cx="1589062" cy="635625"/>
      </dsp:txXfrm>
    </dsp:sp>
    <dsp:sp modelId="{1812DF91-4959-44E6-BC5E-68BCBF4CF4A5}">
      <dsp:nvSpPr>
        <dsp:cNvPr id="0" name=""/>
        <dsp:cNvSpPr/>
      </dsp:nvSpPr>
      <dsp:spPr>
        <a:xfrm>
          <a:off x="2178527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3877D-31D4-4874-9EFA-14C6CFC6460D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5B8D2-CE20-48BE-89FA-4EED0FB33ADD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Datenbankarchitektur</a:t>
          </a:r>
          <a:r>
            <a:rPr lang="de-DE" sz="1100" kern="1200"/>
            <a:t> - Von SQLite zu Room Database wegen Komplexität</a:t>
          </a:r>
          <a:endParaRPr lang="en-US" sz="1100" kern="1200"/>
        </a:p>
      </dsp:txBody>
      <dsp:txXfrm>
        <a:off x="1868660" y="2414215"/>
        <a:ext cx="1589062" cy="635625"/>
      </dsp:txXfrm>
    </dsp:sp>
    <dsp:sp modelId="{EF21937F-A90E-41BE-84FB-F3F7727EDBBF}">
      <dsp:nvSpPr>
        <dsp:cNvPr id="0" name=""/>
        <dsp:cNvSpPr/>
      </dsp:nvSpPr>
      <dsp:spPr>
        <a:xfrm>
          <a:off x="4045676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8F397-1A8B-4FF3-9922-D36F54A70E8B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0D771-2A55-4544-9B9D-36E3338F8B5E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MT940-Parsing</a:t>
          </a:r>
          <a:r>
            <a:rPr lang="de-DE" sz="1100" kern="1200"/>
            <a:t> - Komplexes Bankdatenformat</a:t>
          </a:r>
          <a:endParaRPr lang="en-US" sz="1100" kern="1200"/>
        </a:p>
      </dsp:txBody>
      <dsp:txXfrm>
        <a:off x="3735809" y="2414215"/>
        <a:ext cx="1589062" cy="635625"/>
      </dsp:txXfrm>
    </dsp:sp>
    <dsp:sp modelId="{E11566A0-353D-4937-8820-3F6CEEA09E93}">
      <dsp:nvSpPr>
        <dsp:cNvPr id="0" name=""/>
        <dsp:cNvSpPr/>
      </dsp:nvSpPr>
      <dsp:spPr>
        <a:xfrm>
          <a:off x="5912824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FFF73-357F-4CA9-8F6E-A444A1D152D1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EACF8-13ED-47FA-8A5E-301F163788AB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Funktionale Komplexität</a:t>
          </a:r>
          <a:r>
            <a:rPr lang="de-DE" sz="1100" kern="1200"/>
            <a:t> - 14 Anforderungen mit 12+ Screens</a:t>
          </a:r>
          <a:endParaRPr lang="en-US" sz="1100" kern="1200"/>
        </a:p>
      </dsp:txBody>
      <dsp:txXfrm>
        <a:off x="5602957" y="2414215"/>
        <a:ext cx="1589062" cy="635625"/>
      </dsp:txXfrm>
    </dsp:sp>
    <dsp:sp modelId="{EE4E18DB-6B24-4E04-829D-01E78A1376C2}">
      <dsp:nvSpPr>
        <dsp:cNvPr id="0" name=""/>
        <dsp:cNvSpPr/>
      </dsp:nvSpPr>
      <dsp:spPr>
        <a:xfrm>
          <a:off x="7779973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61B88-DF91-4D31-89E3-9433104BC6E4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BD0D5-1A57-4841-8F68-DF6D4C4474CA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Datenintegrität</a:t>
          </a:r>
          <a:r>
            <a:rPr lang="de-DE" sz="1100" kern="1200"/>
            <a:t> - Konsistenz und Validierung</a:t>
          </a:r>
          <a:endParaRPr lang="en-US" sz="1100" kern="1200"/>
        </a:p>
      </dsp:txBody>
      <dsp:txXfrm>
        <a:off x="7470105" y="2414215"/>
        <a:ext cx="1589062" cy="635625"/>
      </dsp:txXfrm>
    </dsp:sp>
    <dsp:sp modelId="{B56A78C0-BB88-424C-B036-40B29244C29B}">
      <dsp:nvSpPr>
        <dsp:cNvPr id="0" name=""/>
        <dsp:cNvSpPr/>
      </dsp:nvSpPr>
      <dsp:spPr>
        <a:xfrm>
          <a:off x="9647121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C6843-8F8E-4F35-A483-9FE3A6DCB986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D7159-10B2-4B60-ADB8-9EC8BFCE34B1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1" kern="1200"/>
            <a:t>Benutzerfreundlichkeit</a:t>
          </a:r>
          <a:r>
            <a:rPr lang="de-DE" sz="1100" kern="1200"/>
            <a:t> - Komplexe Workflows</a:t>
          </a:r>
          <a:endParaRPr lang="en-US" sz="1100" kern="1200"/>
        </a:p>
      </dsp:txBody>
      <dsp:txXfrm>
        <a:off x="9337254" y="2414215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20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8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05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32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25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48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98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1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92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08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14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CA993-1872-4948-B8A0-0E349893A28F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44927-4D24-4FAA-98D5-F20A463DC2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34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1863176"/>
            <a:ext cx="9634430" cy="4551374"/>
          </a:xfrm>
        </p:spPr>
        <p:txBody>
          <a:bodyPr>
            <a:normAutofit fontScale="92500" lnSpcReduction="10000"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 „Android-Praktikum: Anwendungsentwicklung“ (CS2012)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 Steffen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Vaupel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Sommersemester 2025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vorgelegt von</a:t>
            </a:r>
          </a:p>
          <a:p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Peguy Rusty, Kana Donwoung</a:t>
            </a:r>
            <a:b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Matrikelnummer 5471166</a:t>
            </a:r>
          </a:p>
          <a:p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Mansvell</a:t>
            </a: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Nkwanga</a:t>
            </a: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Nkwanga</a:t>
            </a:r>
            <a:b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Matrikelnummer  5475151</a:t>
            </a:r>
          </a:p>
          <a:p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Clodine</a:t>
            </a: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Maeva, </a:t>
            </a:r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Ndemmeze</a:t>
            </a: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Kenf</a:t>
            </a:r>
            <a:b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Matrikelnummer 5475317</a:t>
            </a:r>
          </a:p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Mittelhessen (THM), Gießen</a:t>
            </a:r>
            <a:b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Fachbereich Mathematik, Naturwissenschaften</a:t>
            </a:r>
            <a:b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 Informatik (MNI)</a:t>
            </a:r>
          </a:p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Juli 2025</a:t>
            </a:r>
          </a:p>
          <a:p>
            <a:endParaRPr lang="de-DE" dirty="0"/>
          </a:p>
        </p:txBody>
      </p:sp>
      <p:pic>
        <p:nvPicPr>
          <p:cNvPr id="4" name="Grafik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54" y="587110"/>
            <a:ext cx="9602345" cy="1021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40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SmartSave – Transparente Finanzplanung für den Alltag</a:t>
            </a:r>
          </a:p>
          <a:p>
            <a:pPr marL="0" indent="0">
              <a:buNone/>
            </a:pPr>
            <a:endParaRPr lang="de-DE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59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3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Inhaltverzeichnis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I- Einleitung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II-  Ziel der App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III-  Organisation und Vorgehensmodell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IV-  Beschreibung der Hauptanwendungsfälle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V-  Herausforderungen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VI- Lösungen 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VII- Umsetzungsdetails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VIII- Live-Demo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IX- Fazit &amp; Ausblick</a:t>
            </a:r>
          </a:p>
          <a:p>
            <a:pPr marL="0" indent="0">
              <a:buNone/>
            </a:pPr>
            <a:endParaRPr lang="de-DE" sz="2000" b="1"/>
          </a:p>
          <a:p>
            <a:pPr marL="0" indent="0">
              <a:buNone/>
            </a:pPr>
            <a:endParaRPr lang="de-DE" sz="2000" b="1"/>
          </a:p>
          <a:p>
            <a:pPr marL="0" indent="0">
              <a:buNone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258324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		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Einleitung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94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Problemstellung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Warum </a:t>
            </a:r>
            <a:r>
              <a:rPr lang="de-DE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SmartSave</a:t>
            </a: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lvl="0" indent="0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Konsumentscheidungen meist basierend auf aktuellem Kontostand</a:t>
            </a:r>
          </a:p>
          <a:p>
            <a:pPr marL="0" lvl="0" indent="0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Wichtige Ausgaben werden dabei oft nicht berücksichtigt</a:t>
            </a:r>
          </a:p>
          <a:p>
            <a:pPr lvl="1"/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 B. Versicherungen, Rechnungen, geplante Käufe</a:t>
            </a:r>
          </a:p>
          <a:p>
            <a:pPr marL="0" lvl="0" indent="0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Keine Kategorisierung der Ausgaben – fehlende Übersicht</a:t>
            </a:r>
          </a:p>
          <a:p>
            <a:pPr marL="0" indent="0">
              <a:buNone/>
            </a:pP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8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Ziel der App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Vollständige Finanzübersicht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und Verwaltung aller Kontoumsätze (Bankkonto, Sparkonto, Kreditkarte)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Kategorisierung von Einnahmen und Ausgaben</a:t>
            </a:r>
          </a:p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Sparziel-Management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von Sparzielen mit Zeitpunkt und Betrag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Automatische Berechnung monatlicher Sparraten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Generierung von Dauerauftragsvorschlägen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Überwachung des Sparfortschritt</a:t>
            </a:r>
          </a:p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Ausgaben-Transparenz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Zuordnung einzelner Ausgaben zu Kategorien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Nachverfolgung , wofür das Geld tatsächlich ausgegeben wurde</a:t>
            </a:r>
          </a:p>
          <a:p>
            <a:pPr lvl="0">
              <a:buFont typeface="Symbol" panose="05050102010706020507" pitchFamily="18" charset="2"/>
              <a:buChar char="-"/>
            </a:pPr>
            <a:endParaRPr lang="de-DE" sz="2000" b="1"/>
          </a:p>
          <a:p>
            <a:pPr lvl="0">
              <a:buFont typeface="Symbol" panose="05050102010706020507" pitchFamily="18" charset="2"/>
              <a:buChar char="-"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405677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Vorgehensmodell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9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3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Projektorganisation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Teamstruktur</a:t>
            </a:r>
          </a:p>
          <a:p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Teamgröße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 Personen</a:t>
            </a:r>
          </a:p>
          <a:p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Arbeitsaufwand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ca. 80 Zeitstunden pro Person (240 Stunden gesamt)</a:t>
            </a:r>
          </a:p>
          <a:p>
            <a:pPr marL="0" indent="0">
              <a:buNone/>
            </a:pPr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Rollen und Verantwortlichkeiten</a:t>
            </a:r>
          </a:p>
          <a:p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Entwickler 1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GUI-Design und -Implementierung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Benutzerinteraktion und UX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Frontend-</a:t>
            </a:r>
            <a:r>
              <a:rPr lang="de-DE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de-DE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Entwickler 2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MT940-Import-Funktionalität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Datenbankschema-Entwicklung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Backend-Integration</a:t>
            </a:r>
          </a:p>
          <a:p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Entwickler 3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Geschäftslogik-Implementierung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Sparziel-Algorithmen</a:t>
            </a:r>
          </a:p>
          <a:p>
            <a:pPr lvl="1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Systemintegration und </a:t>
            </a:r>
            <a:r>
              <a:rPr lang="de-DE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de-DE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181289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28368" y="4522156"/>
            <a:ext cx="4937937" cy="1363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700" b="1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Verwendete</a:t>
            </a:r>
            <a:r>
              <a:rPr lang="en-US" sz="37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Technologien</a:t>
            </a:r>
            <a:r>
              <a:rPr lang="en-US" sz="37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 Tools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E2D6188-24E5-426A-BB2A-3FA2D6B9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1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208BC59-C84F-483F-80CD-FAEC74229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3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6" y="391218"/>
            <a:ext cx="2410097" cy="114479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1DABD52-05DF-4F31-AFB9-B330D8BE4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5559" y="725908"/>
            <a:ext cx="2852928" cy="2852928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789" y="1508661"/>
            <a:ext cx="1939835" cy="1357884"/>
          </a:xfrm>
          <a:prstGeom prst="rect">
            <a:avLst/>
          </a:prstGeom>
        </p:spPr>
      </p:pic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6643" y="3726460"/>
            <a:ext cx="2329136" cy="2329136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E4F04B5-4D4A-4F70-8549-384AF5351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0"/>
            <a:ext cx="3273238" cy="3383891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612448"/>
            <a:ext cx="1952160" cy="1464120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D14DB62-3EB3-452E-89EE-30B0CDB0C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3236" y="4071322"/>
            <a:ext cx="2828765" cy="2786678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8582" y="5118232"/>
            <a:ext cx="2135777" cy="120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7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Vorgehensmodell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Gewähltes Vorgehensmodell</a:t>
            </a: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Agile Entwicklung mit Gitlab</a:t>
            </a:r>
          </a:p>
          <a:p>
            <a:pPr marL="0" indent="0">
              <a:buNone/>
            </a:pPr>
            <a:r>
              <a:rPr lang="de-DE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Sprint-Planung: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Sprint1: Grundlagen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Sprint2: Kernfunktionalität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Sprint3: Erweiterte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Sprint4: Finalisierung</a:t>
            </a:r>
          </a:p>
        </p:txBody>
      </p:sp>
    </p:spTree>
    <p:extLst>
      <p:ext uri="{BB962C8B-B14F-4D97-AF65-F5344CB8AC3E}">
        <p14:creationId xmlns:p14="http://schemas.microsoft.com/office/powerpoint/2010/main" val="205981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Beschreibung</a:t>
            </a:r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der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Hauptanwendungsfälle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2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378135"/>
            <a:ext cx="10515600" cy="5798828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Registrierung                   2- Einloggen                        3- Ausloggen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A16177C7-C741-83B1-1B54-846B80DF0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53" y="1065181"/>
            <a:ext cx="2305248" cy="389052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537" y="1066117"/>
            <a:ext cx="2557570" cy="388958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743" y="1065181"/>
            <a:ext cx="2471057" cy="270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7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598141"/>
            <a:ext cx="10515600" cy="5578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Anlegen von verschiedenen Kontoarten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Bankkonto    </a:t>
            </a:r>
          </a:p>
          <a:p>
            <a:pPr marL="285750" indent="-285750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Sparkonto      </a:t>
            </a:r>
          </a:p>
          <a:p>
            <a:pPr marL="285750" indent="-285750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Kreditkartekonto</a:t>
            </a:r>
          </a:p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</a:t>
            </a: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564"/>
              </p:ext>
            </p:extLst>
          </p:nvPr>
        </p:nvGraphicFramePr>
        <p:xfrm>
          <a:off x="838200" y="3132857"/>
          <a:ext cx="7528332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083">
                  <a:extLst>
                    <a:ext uri="{9D8B030D-6E8A-4147-A177-3AD203B41FA5}">
                      <a16:colId xmlns:a16="http://schemas.microsoft.com/office/drawing/2014/main" val="3115822374"/>
                    </a:ext>
                  </a:extLst>
                </a:gridCol>
                <a:gridCol w="1882083">
                  <a:extLst>
                    <a:ext uri="{9D8B030D-6E8A-4147-A177-3AD203B41FA5}">
                      <a16:colId xmlns:a16="http://schemas.microsoft.com/office/drawing/2014/main" val="3624113585"/>
                    </a:ext>
                  </a:extLst>
                </a:gridCol>
                <a:gridCol w="1882083">
                  <a:extLst>
                    <a:ext uri="{9D8B030D-6E8A-4147-A177-3AD203B41FA5}">
                      <a16:colId xmlns:a16="http://schemas.microsoft.com/office/drawing/2014/main" val="3865513138"/>
                    </a:ext>
                  </a:extLst>
                </a:gridCol>
                <a:gridCol w="1882083">
                  <a:extLst>
                    <a:ext uri="{9D8B030D-6E8A-4147-A177-3AD203B41FA5}">
                      <a16:colId xmlns:a16="http://schemas.microsoft.com/office/drawing/2014/main" val="3518074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Iban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KontoNr</a:t>
                      </a:r>
                      <a:r>
                        <a:rPr lang="de-DE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Ergebnis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5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DE12345678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✅ Erfolg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11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DE123456789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/>
                        <a:t>❌ Misserfolg(IBAN)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9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DE999999999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/>
                        <a:t>❌ Misserfolg(Konto)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566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DE888888888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/>
                        <a:t>✅ Erfolg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79801"/>
                  </a:ext>
                </a:extLst>
              </a:tr>
            </a:tbl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045" y="426163"/>
            <a:ext cx="2914141" cy="59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4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488138"/>
            <a:ext cx="10515600" cy="5688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5- Anlegen/Auflösung von Sparzielen</a:t>
            </a:r>
            <a:endParaRPr lang="de-DE"/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Automatische Berechnung</a:t>
            </a:r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Von Raten über 6 Monate</a:t>
            </a:r>
          </a:p>
          <a:p>
            <a:pPr marL="0" indent="0">
              <a:buNone/>
            </a:pPr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Überweisungsdetails über:</a:t>
            </a:r>
          </a:p>
          <a:p>
            <a:pPr marL="285750" indent="-285750"/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QR-Code(mit Bankkamera)</a:t>
            </a:r>
          </a:p>
          <a:p>
            <a:pPr marL="285750" indent="-285750"/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</a:p>
          <a:p>
            <a:pPr marL="285750" indent="-285750"/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Druckfunktion(</a:t>
            </a:r>
            <a:r>
              <a:rPr lang="de-DE" b="1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erhalten</a:t>
            </a:r>
          </a:p>
          <a:p>
            <a:pPr marL="285750" indent="-285750"/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Automatische Generierung</a:t>
            </a:r>
          </a:p>
          <a:p>
            <a:pPr marL="0" indent="0">
              <a:buNone/>
            </a:pP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von  Einzahlungen an jedem 15.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802" y="488138"/>
            <a:ext cx="3124583" cy="554592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50" y="488138"/>
            <a:ext cx="3006561" cy="56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15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825023"/>
            <a:ext cx="10515600" cy="5351940"/>
          </a:xfrm>
        </p:spPr>
        <p:txBody>
          <a:bodyPr/>
          <a:lstStyle/>
          <a:p>
            <a:pPr marL="0" indent="0"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6- Kategorienverwaltung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Kategorie hinzufügen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Kategorie editieren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Kategorie löschen</a:t>
            </a:r>
          </a:p>
          <a:p>
            <a:pPr>
              <a:buFont typeface="Wingdings" panose="05000000000000000000" pitchFamily="2" charset="2"/>
              <a:buChar char="§"/>
            </a:pP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(Dialogs bei Fehler- &amp; Sonderfällen)</a:t>
            </a:r>
          </a:p>
          <a:p>
            <a:pPr marL="0" indent="0">
              <a:buNone/>
            </a:pP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80" y="825023"/>
            <a:ext cx="2280102" cy="4812631"/>
          </a:xfrm>
          <a:prstGeom prst="rect">
            <a:avLst/>
          </a:prstGeom>
        </p:spPr>
      </p:pic>
      <p:pic>
        <p:nvPicPr>
          <p:cNvPr id="5" name="Grafik 7">
            <a:extLst>
              <a:ext uri="{FF2B5EF4-FFF2-40B4-BE49-F238E27FC236}">
                <a16:creationId xmlns:a16="http://schemas.microsoft.com/office/drawing/2014/main" id="{47D47873-BD75-89CA-3D27-29D13BF63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42" y="3393806"/>
            <a:ext cx="2566591" cy="26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6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495014"/>
            <a:ext cx="10515600" cy="5681949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Kontoumsätzeverwaltung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53" y="1010652"/>
            <a:ext cx="3295650" cy="524576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156" y="1010652"/>
            <a:ext cx="2746959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6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Herausforderungen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4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15D89E9-2464-C977-D80A-4CD90528E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4533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2108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Lösungen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Moderne Jetpack Compose Implementation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Room Database mit weniger Boilerplate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Strukturiertes MT940-Parsing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Modulare Architektur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Umfassendes Error Handling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Benutzerfreundliche Navigation</a:t>
            </a:r>
          </a:p>
          <a:p>
            <a:pPr marL="0" indent="0">
              <a:buNone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3078703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VIII-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Umsetzungsdetails</a:t>
            </a:r>
            <a:endParaRPr lang="en-US" sz="4800" b="1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45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7575" y="584391"/>
            <a:ext cx="10515600" cy="5620073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Trennung von Benutzerdaten über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Navigation durch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Navcontroller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Verwendung von Room-Datenbank</a:t>
            </a:r>
          </a:p>
          <a:p>
            <a:pPr marL="0" indent="0">
              <a:buNone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(Entitäten ,DAO ,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SmartsaveRepository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B4BD7-8AA4-87BB-2F7A-7689E066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03" y="1069378"/>
            <a:ext cx="4608040" cy="101566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fun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CreateAccountScreen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userId: String,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onNavigateBack: () -&gt; Unit = </a:t>
            </a:r>
            <a:r>
              <a:rPr kumimoji="0" lang="de-DE" altLang="de-DE" sz="10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{}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onAccountCreated: () -&gt; Unit = </a:t>
            </a:r>
            <a:r>
              <a:rPr kumimoji="0" lang="de-DE" altLang="de-DE" sz="10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{}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viewModel: CreateAccountViewModel =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6BB38A"/>
                </a:solidFill>
                <a:effectLst/>
                <a:latin typeface="JetBrains Mono"/>
              </a:rPr>
              <a:t>defaultAccountViewModel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56C1D6"/>
                </a:solidFill>
                <a:effectLst/>
                <a:latin typeface="JetBrains Mono"/>
              </a:rPr>
              <a:t>userId=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userId) 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F4AA26-4216-8C62-6AF8-5F5180F48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03" y="2748096"/>
            <a:ext cx="460804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56C1D6"/>
                </a:solidFill>
                <a:effectLst/>
                <a:latin typeface="JetBrains Mono"/>
              </a:rPr>
              <a:t>onClick = </a:t>
            </a: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navController.navigate(Screen.CreateSavingsGoal.withUserId(userId))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571" y="2360480"/>
            <a:ext cx="3934374" cy="362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5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14CBDBE4-FA7E-A4AD-AABA-EB25BFB0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36" y="559703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QR-Code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Generierung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E-Mail-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Generierung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PDF-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Generierung</a:t>
            </a:r>
            <a:br>
              <a:rPr lang="en-US" sz="2600" dirty="0">
                <a:solidFill>
                  <a:srgbClr val="FFFFFF"/>
                </a:solidFill>
              </a:rPr>
            </a:b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5">
            <a:extLst>
              <a:ext uri="{FF2B5EF4-FFF2-40B4-BE49-F238E27FC236}">
                <a16:creationId xmlns:a16="http://schemas.microsoft.com/office/drawing/2014/main" id="{3DA8D5DA-3E98-BD60-1221-D5D3D9296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81" y="2132099"/>
            <a:ext cx="2036229" cy="3218041"/>
          </a:xfrm>
          <a:prstGeom prst="rect">
            <a:avLst/>
          </a:prstGeom>
        </p:spPr>
      </p:pic>
      <p:pic>
        <p:nvPicPr>
          <p:cNvPr id="8" name="Grafik 9">
            <a:extLst>
              <a:ext uri="{FF2B5EF4-FFF2-40B4-BE49-F238E27FC236}">
                <a16:creationId xmlns:a16="http://schemas.microsoft.com/office/drawing/2014/main" id="{1FE84E5B-D1D0-ABB5-B424-101A5F7DD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80" y="2132099"/>
            <a:ext cx="2328135" cy="3218041"/>
          </a:xfrm>
          <a:prstGeom prst="rect">
            <a:avLst/>
          </a:prstGeom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B396CF9B-3E77-200D-5DA1-B92C718CE1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" t="10641" r="-3501" b="28347"/>
          <a:stretch>
            <a:fillRect/>
          </a:stretch>
        </p:blipFill>
        <p:spPr>
          <a:xfrm>
            <a:off x="8430090" y="2132099"/>
            <a:ext cx="2439428" cy="3218041"/>
          </a:xfrm>
          <a:prstGeom prst="rect">
            <a:avLst/>
          </a:prstGeom>
        </p:spPr>
      </p:pic>
      <p:sp>
        <p:nvSpPr>
          <p:cNvPr id="4" name="Foliennummernplatzhalter 1">
            <a:extLst>
              <a:ext uri="{FF2B5EF4-FFF2-40B4-BE49-F238E27FC236}">
                <a16:creationId xmlns:a16="http://schemas.microsoft.com/office/drawing/2014/main" id="{37EA84F2-114C-CF9C-9CEB-6E48B2B9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2940"/>
            <a:ext cx="44805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5BCC05E-6BB9-F44C-AA5C-18037A9C729E}" type="slidenum">
              <a:rPr lang="en-US" altLang="de-DE" sz="1100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23</a:t>
            </a:fld>
            <a:endParaRPr lang="en-US" altLang="de-DE" sz="1100">
              <a:solidFill>
                <a:srgbClr val="FFFFFF"/>
              </a:solidFill>
            </a:endParaRP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A5FDC773-E14F-E486-7AD1-995422D48E1B}"/>
              </a:ext>
            </a:extLst>
          </p:cNvPr>
          <p:cNvSpPr txBox="1">
            <a:spLocks/>
          </p:cNvSpPr>
          <p:nvPr/>
        </p:nvSpPr>
        <p:spPr>
          <a:xfrm>
            <a:off x="1197150" y="1798755"/>
            <a:ext cx="8424464" cy="4617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3121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IX- Live-Demo</a:t>
            </a:r>
          </a:p>
        </p:txBody>
      </p:sp>
    </p:spTree>
    <p:extLst>
      <p:ext uri="{BB962C8B-B14F-4D97-AF65-F5344CB8AC3E}">
        <p14:creationId xmlns:p14="http://schemas.microsoft.com/office/powerpoint/2010/main" val="260590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IX-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Fazit</a:t>
            </a:r>
            <a:r>
              <a:rPr lang="en-US" sz="48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4800" b="1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Ausblick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209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Fazit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Problemlösung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erreicht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SmartSave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-App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löst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erfolgreich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 Problem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kurzfristiger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Finanzentscheidungen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basierend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auf dem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aktuellen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Kontostand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Durch MT940-Import 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Kategorisierung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erhalten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Nutzer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einen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realistischen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Überblick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Finanzen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Technische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Umsetzung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Architektur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standardisierten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Schnittstellen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benutzerfreundlicher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GUI. Alle 14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funktionalen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Anforderungen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erfüllbar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Lerneffekte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Umfassende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Erfahrungen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Android-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Entwicklung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Finanzinformatik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Datenbankentwurf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45664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Ausblick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Kurzfristig</a:t>
            </a: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KI-basierte automatische Kategorisierung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Grafische Ausgabenanalysen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Push-Benachrichtigungen für Sparziele</a:t>
            </a:r>
          </a:p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Mittelfristig</a:t>
            </a: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Banking Integration (PSD2)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Multi-Device-Synchronisation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Echtzeit-</a:t>
            </a:r>
            <a:r>
              <a:rPr lang="de-D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Kontostandsabfragen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Langfristig</a:t>
            </a: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Umfassende Finanzplanung mit Investments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KI-Finanzberatung</a:t>
            </a:r>
          </a:p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White-Label-Lösung für Banken</a:t>
            </a: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40046180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650</Words>
  <Application>Microsoft Office PowerPoint</Application>
  <PresentationFormat>Breitbild</PresentationFormat>
  <Paragraphs>161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JetBrains Mono</vt:lpstr>
      <vt:lpstr>Symbol</vt:lpstr>
      <vt:lpstr>Times New Roman</vt:lpstr>
      <vt:lpstr>Wingdings</vt:lpstr>
      <vt:lpstr>Thème Office</vt:lpstr>
      <vt:lpstr>PowerPoint-Präsentation</vt:lpstr>
      <vt:lpstr>PowerPoint-Präsentation</vt:lpstr>
      <vt:lpstr>Inhaltverzeichnis</vt:lpstr>
      <vt:lpstr>   I- Einleitung</vt:lpstr>
      <vt:lpstr>1. Problemstellung</vt:lpstr>
      <vt:lpstr>II- Ziel der App</vt:lpstr>
      <vt:lpstr>III- Organisation und Vorgehensmodell</vt:lpstr>
      <vt:lpstr>1. Projektorganisation</vt:lpstr>
      <vt:lpstr>2. Verwendete Technologien und Tools</vt:lpstr>
      <vt:lpstr>3. Vorgehensmodell</vt:lpstr>
      <vt:lpstr>IV- Beschreibung der Hauptanwendungsfälle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V- Herausforderungen</vt:lpstr>
      <vt:lpstr>PowerPoint-Präsentation</vt:lpstr>
      <vt:lpstr>VI- Lösungen</vt:lpstr>
      <vt:lpstr>PowerPoint-Präsentation</vt:lpstr>
      <vt:lpstr>VIII- Umsetzungsdetails</vt:lpstr>
      <vt:lpstr>PowerPoint-Präsentation</vt:lpstr>
      <vt:lpstr>QR-Code Generierung                   E-Mail-Generierung                 PDF-Generierung </vt:lpstr>
      <vt:lpstr>IX- Live-Demo</vt:lpstr>
      <vt:lpstr>IX- Fazit &amp; Ausblick </vt:lpstr>
      <vt:lpstr>PowerPoint-Präsentation</vt:lpstr>
      <vt:lpstr>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Peguy Rusty Kana Donwoung</dc:creator>
  <cp:lastModifiedBy>Peguy Rusty Kana, Donwoung</cp:lastModifiedBy>
  <cp:revision>14</cp:revision>
  <dcterms:created xsi:type="dcterms:W3CDTF">2025-07-08T18:19:48Z</dcterms:created>
  <dcterms:modified xsi:type="dcterms:W3CDTF">2025-07-09T08:53:14Z</dcterms:modified>
</cp:coreProperties>
</file>